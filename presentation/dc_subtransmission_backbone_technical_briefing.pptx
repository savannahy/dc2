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03163"/>
                </a:solidFill>
              </a:rPr>
              <a:t>Direct Current Subtransmission Backbone for AI Factories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5A5A5A"/>
                </a:solidFill>
              </a:rPr>
              <a:t>Technical briefing based on the public-data modeling stack in SavannahY/DC2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6583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282828"/>
                </a:solidFill>
              </a:rPr>
              <a:t>Scenario 2 is the explicit AC-fed SST + 800 VDC baseline.</a:t>
            </a:r>
          </a:p>
          <a:p>
            <a:pPr algn="l"/>
            <a:r>
              <a:rPr sz="2200">
                <a:solidFill>
                  <a:srgbClr val="282828"/>
                </a:solidFill>
              </a:rPr>
              <a:t>Scenario 3 adds the MVDC subtransmission backbone while keeping the same downstream 800 VDC structure.</a:t>
            </a:r>
          </a:p>
          <a:p>
            <a:pPr algn="l"/>
            <a:r>
              <a:rPr sz="2200">
                <a:solidFill>
                  <a:srgbClr val="282828"/>
                </a:solidFill>
              </a:rPr>
              <a:t>Scenario 3(M) is the campus-scale proof layer with a shared 69 kV DC backbone and four compute blocks.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</a:rPr>
              <a:t>https://github.com/SavannahY/DC2</a:t>
            </a:r>
          </a:p>
        </p:txBody>
      </p:sp>
      <p:pic>
        <p:nvPicPr>
          <p:cNvPr id="6" name="Picture 5" descr="architec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188720"/>
            <a:ext cx="4389120" cy="2219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03163"/>
                </a:solidFill>
              </a:rPr>
              <a:t>Architecture Under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1064240" cy="4572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</a:rPr>
              <a:t>Scenario 2 and Scenario 3 share the SST + 800 VDC downstream structure; the backbone is the differentiator.</a:t>
            </a:r>
          </a:p>
        </p:txBody>
      </p:sp>
      <p:pic>
        <p:nvPicPr>
          <p:cNvPr id="5" name="Picture 4" descr="architec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89920" cy="5455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1264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</a:rPr>
              <a:t>Scenario 3(M) extends Scenario 3 into a shared multi-block campus backbone rather than a single equivalent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03163"/>
                </a:solidFill>
              </a:rPr>
              <a:t>Evidence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1064240" cy="4572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</a:rPr>
              <a:t>What is modeled with public data today, and what is still outside the evidence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282828"/>
                </a:solidFill>
              </a:rPr>
              <a:t>Source-anchored path model for Scenarios 1/2/3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Shared-campus multi-node model for Scenarios 1(M)/2(M)/3(M)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Public ESIF annual bins and MIT Supercloud burst library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OpenDSS AC-boundary cross-checks and harmonics-mode scans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RTS-GMLC mirrored-area and local N-1 sensitivity screens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SMART-DS same-feeder common-network and equal-total harmonic benchmark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ANDES RMS dynamic benchmark under normal and weakened corridor stress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Reduced-order MVDC fault-duty and interruption-timescale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282828"/>
                </a:solidFill>
              </a:rPr>
              <a:t>Supported now: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Campus-scale efficiency direction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Centralized AC-boundary PQ and voltage benefits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Weak-grid RMS voltage robustness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Fault interruption timescale as a first-order issue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/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Not proven yet: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IEEE 519 compliance margins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Converter EMT stability and controls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Deployable selective protection design</a:t>
            </a:r>
          </a:p>
          <a:p>
            <a:pPr algn="l"/>
            <a:r>
              <a:rPr sz="1900">
                <a:solidFill>
                  <a:srgbClr val="282828"/>
                </a:solidFill>
              </a:rPr>
              <a:t>Site-specific interconnection margins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03163"/>
                </a:solidFill>
              </a:rPr>
              <a:t>Steady-State and Campus-Scale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1064240" cy="4572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mulative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5852160" cy="28990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2801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82828"/>
                </a:solidFill>
              </a:rPr>
              <a:t>Single-path, 100 MW IT: S2 91.82% vs S3 92.17%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Annual loss: 78.06 vs 74.45 GWh/yr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Multi-node, 100 MW IT: S2(M) 85.16% vs S3(M) 86.69%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Multi-node annual loss: 152.70 vs 134.55 GWh/yr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The single-path gain is modest.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The campus-scale multi-node result is the stronger efficiency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03163"/>
                </a:solidFill>
              </a:rPr>
              <a:t>Public Network Proof of Benefits 2 and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1064240" cy="4572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ublic_proof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583680" cy="25951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28016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82828"/>
                </a:solidFill>
              </a:rPr>
              <a:t>RTS mirrored areas: harmonic proxy ratio &gt;= 4.47x</a:t>
            </a:r>
          </a:p>
          <a:p>
            <a:pPr algn="l"/>
            <a:r>
              <a:rPr sz="1800">
                <a:solidFill>
                  <a:srgbClr val="282828"/>
                </a:solidFill>
              </a:rPr>
              <a:t>RTS mirrored areas: voltage-drop ratio &gt;= 2.85x</a:t>
            </a:r>
          </a:p>
          <a:p>
            <a:pPr algn="l"/>
            <a:r>
              <a:rPr sz="1800">
                <a:solidFill>
                  <a:srgbClr val="282828"/>
                </a:solidFill>
              </a:rPr>
              <a:t>SMART-DS same-feeder equal-total harmonic benchmark: 64.49x to 83.69x lower THDv proxy</a:t>
            </a:r>
          </a:p>
          <a:p>
            <a:pPr algn="l"/>
            <a:r>
              <a:rPr sz="1800">
                <a:solidFill>
                  <a:srgbClr val="282828"/>
                </a:solidFill>
              </a:rPr>
              <a:t>SMART-DS surviving local N-1 cases: 5 for S2(M) vs 9 for S3(M)</a:t>
            </a:r>
          </a:p>
          <a:p>
            <a:pPr algn="l"/>
            <a:r>
              <a:rPr sz="1800">
                <a:solidFill>
                  <a:srgbClr val="282828"/>
                </a:solidFill>
              </a:rPr>
              <a:t>This is the strongest current support for centralized AC-boundary PQ ownership and voltage robustness.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03163"/>
                </a:solidFill>
              </a:rPr>
              <a:t>RMS Dynamic Benchmark and Fault Envelope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1064240" cy="4572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ms_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486400" cy="2257759"/>
          </a:xfrm>
          <a:prstGeom prst="rect">
            <a:avLst/>
          </a:prstGeom>
        </p:spPr>
      </p:pic>
      <p:pic>
        <p:nvPicPr>
          <p:cNvPr id="5" name="Picture 4" descr="fault_envelop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7619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86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82828"/>
                </a:solidFill>
              </a:rPr>
              <a:t>Strongest converged RMS separation: weakened corridor, 900 s p95 burst, 25% campus share, Vmin 0.7118 pu vs 0.9875 pu.</a:t>
            </a:r>
          </a:p>
          <a:p>
            <a:pPr algn="l"/>
            <a:r>
              <a:rPr sz="1600">
                <a:solidFill>
                  <a:srgbClr val="282828"/>
                </a:solidFill>
              </a:rPr>
              <a:t>Fault screen: source-backbone midpoint reaches 8.53 kA at 5 ms in the worst public sweep; fastest time to 5 kA is 2.43 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03163"/>
                </a:solidFill>
              </a:rPr>
              <a:t>What the Current Evidence Supports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1064240" cy="4572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82828"/>
                </a:solidFill>
              </a:rPr>
              <a:t>Supported at the current evidence level: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Scenario 3(M) is the stronger campus-scale architecture case.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Benefit 2: centralized AC-boundary harmonic sensitivity is lower.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Benefit 3: upstream AC-boundary voltage and weak-grid RMS robustness are better.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Fault interruption timescale is a first-order design issue for the MVDC backbone.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82828"/>
                </a:solidFill>
              </a:rPr>
              <a:t>Still not proven: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Exact IEEE 519 compliance margins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Converter-aware EMT stability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Deployable breaker and protection settings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Site-specific utility interconnection limits</a:t>
            </a:r>
          </a:p>
          <a:p>
            <a:pPr algn="l"/>
            <a:r>
              <a:rPr sz="2000">
                <a:solidFill>
                  <a:srgbClr val="282828"/>
                </a:solidFill>
              </a:rPr>
              <a:t>Uniform internal dynamic stress reduction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03163"/>
                </a:solidFill>
              </a:rPr>
              <a:t>Next Technical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1064240" cy="4572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>
                <a:solidFill>
                  <a:srgbClr val="282828"/>
                </a:solidFill>
              </a:rPr>
              <a:t>Replace proxy curves for the centralized AC/DC front end and isolated DC pod with measured or vendor-qualified data.</a:t>
            </a:r>
          </a:p>
          <a:p>
            <a:pPr algn="l"/>
            <a:r>
              <a:rPr sz="2100">
                <a:solidFill>
                  <a:srgbClr val="282828"/>
                </a:solidFill>
              </a:rPr>
              <a:t>Promote the RMS benchmark into converter-aware EMT studies for the centralized front end, isolated pod, and buffer controls.</a:t>
            </a:r>
          </a:p>
          <a:p>
            <a:pPr algn="l"/>
            <a:r>
              <a:rPr sz="2100">
                <a:solidFill>
                  <a:srgbClr val="282828"/>
                </a:solidFill>
              </a:rPr>
              <a:t>Turn the fault envelope into a selective protection and grounding study with explicit interruption technology assumptions.</a:t>
            </a:r>
          </a:p>
          <a:p>
            <a:pPr algn="l"/>
            <a:r>
              <a:rPr sz="2100">
                <a:solidFill>
                  <a:srgbClr val="282828"/>
                </a:solidFill>
              </a:rPr>
              <a:t>Extend the public common-network workflow into a site-specific PCC study when utility Thevenin and short-circuit data are available.</a:t>
            </a:r>
          </a:p>
          <a:p>
            <a:pPr algn="l"/>
            <a:r>
              <a:rPr sz="2100">
                <a:solidFill>
                  <a:srgbClr val="282828"/>
                </a:solidFill>
              </a:rPr>
              <a:t>Use the repo as the reproducible base package: code, figures, white paper, and slide deck are all versioned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</a:rPr>
              <a:t>https://github.com/SavannahY/DC2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