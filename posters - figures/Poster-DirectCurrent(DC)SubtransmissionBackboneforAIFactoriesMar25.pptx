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6B5E"/>
    <a:srgbClr val="8C15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 snapToGrid="0" snapToObjects="1">
      <p:cViewPr>
        <p:scale>
          <a:sx n="40" d="100"/>
          <a:sy n="40" d="100"/>
        </p:scale>
        <p:origin x="1352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23525-A4EF-E64A-A970-95EC57023C4C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A0E043-432E-D14C-A195-D19DCA970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733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A0E043-432E-D14C-A195-D19DCA970D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9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67118"/>
            <a:ext cx="32918400" cy="1920240"/>
          </a:xfrm>
          <a:prstGeom prst="rect">
            <a:avLst/>
          </a:prstGeom>
          <a:solidFill>
            <a:srgbClr val="6B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874520"/>
            <a:ext cx="32918400" cy="45720"/>
          </a:xfrm>
          <a:prstGeom prst="rect">
            <a:avLst/>
          </a:prstGeom>
          <a:solidFill>
            <a:srgbClr val="D2C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18891" y="298828"/>
            <a:ext cx="301752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rPr sz="4800" dirty="0"/>
              <a:t>Direct Current (DC) </a:t>
            </a:r>
            <a:r>
              <a:rPr sz="4800" dirty="0" err="1"/>
              <a:t>Subtransmission</a:t>
            </a:r>
            <a:r>
              <a:rPr sz="4800" dirty="0"/>
              <a:t> Backbone for AI Factories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158475" y="-331135"/>
            <a:ext cx="30175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DDDDDD"/>
                </a:solidFill>
                <a:latin typeface="Arial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371600" y="1146188"/>
            <a:ext cx="3017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rPr sz="3200" dirty="0"/>
              <a:t>Jane Yang (</a:t>
            </a:r>
            <a:r>
              <a:rPr sz="3200" dirty="0" err="1"/>
              <a:t>yjane@stanford.edu</a:t>
            </a:r>
            <a:r>
              <a:rPr sz="3200" dirty="0"/>
              <a:t>) </a:t>
            </a:r>
            <a:r>
              <a:rPr lang="zh-CN" altLang="en-US" sz="3200" dirty="0"/>
              <a:t>      </a:t>
            </a:r>
            <a:r>
              <a:rPr sz="3200" dirty="0"/>
              <a:t>   Liang Min (</a:t>
            </a:r>
            <a:r>
              <a:rPr sz="3200" dirty="0" err="1"/>
              <a:t>liangmin@stanford.edu</a:t>
            </a:r>
            <a:r>
              <a:rPr sz="3200" dirty="0"/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59" y="2653878"/>
            <a:ext cx="11807761" cy="5768492"/>
          </a:xfrm>
          <a:prstGeom prst="roundRect">
            <a:avLst>
              <a:gd name="adj" fmla="val 38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039112"/>
            <a:ext cx="10454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rPr dirty="0"/>
              <a:t>MOTIVATION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438" y="2710031"/>
            <a:ext cx="11175750" cy="5729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8C1515"/>
                </a:solidFill>
                <a:latin typeface="Arial"/>
              </a:defRPr>
            </a:pPr>
            <a:r>
              <a:rPr dirty="0"/>
              <a:t>Why Revisit the Power Path Now?</a:t>
            </a:r>
          </a:p>
          <a:p>
            <a:pPr marL="342900" indent="-342900" algn="l">
              <a:spcAft>
                <a:spcPts val="1000"/>
              </a:spcAft>
              <a:buFont typeface="Arial" panose="020B0604020202020204" pitchFamily="34" charset="0"/>
              <a:buChar char="•"/>
              <a:defRPr sz="2200" b="0">
                <a:solidFill>
                  <a:srgbClr val="333333"/>
                </a:solidFill>
                <a:latin typeface="Arial"/>
              </a:defRPr>
            </a:pPr>
            <a:r>
              <a:rPr dirty="0"/>
              <a:t>AI-training loads are changing the problem from a purely steady-state efficiency problem into an architecture + power-dynamics problem. </a:t>
            </a:r>
            <a:endParaRPr lang="en-US" dirty="0"/>
          </a:p>
          <a:p>
            <a:pPr marL="342900" indent="-342900" algn="l">
              <a:spcAft>
                <a:spcPts val="1000"/>
              </a:spcAft>
              <a:buFont typeface="Arial" panose="020B0604020202020204" pitchFamily="34" charset="0"/>
              <a:buChar char="•"/>
              <a:defRPr sz="2200" b="0">
                <a:solidFill>
                  <a:srgbClr val="333333"/>
                </a:solidFill>
                <a:latin typeface="Arial"/>
              </a:defRPr>
            </a:pPr>
            <a:r>
              <a:rPr dirty="0"/>
              <a:t>The GPU is the dominant power consumer (~65%), and synchronized GPU activity creates periodic power swings visible at the datacenter level.</a:t>
            </a:r>
          </a:p>
          <a:p>
            <a:pPr algn="l">
              <a:spcAft>
                <a:spcPts val="600"/>
              </a:spcAft>
              <a:defRPr sz="2400" b="1">
                <a:solidFill>
                  <a:srgbClr val="006B5E"/>
                </a:solidFill>
                <a:latin typeface="Arial"/>
              </a:defRPr>
            </a:pPr>
            <a:endParaRPr lang="en-US" dirty="0"/>
          </a:p>
          <a:p>
            <a:pPr algn="l">
              <a:spcAft>
                <a:spcPts val="600"/>
              </a:spcAft>
              <a:defRPr sz="2400" b="1">
                <a:solidFill>
                  <a:srgbClr val="006B5E"/>
                </a:solidFill>
                <a:latin typeface="Arial"/>
              </a:defRPr>
            </a:pPr>
            <a:endParaRPr lang="en-US" dirty="0"/>
          </a:p>
          <a:p>
            <a:pPr algn="l">
              <a:spcAft>
                <a:spcPts val="600"/>
              </a:spcAft>
              <a:defRPr sz="2400" b="1">
                <a:solidFill>
                  <a:srgbClr val="006B5E"/>
                </a:solidFill>
                <a:latin typeface="Arial"/>
              </a:defRPr>
            </a:pPr>
            <a:endParaRPr lang="en-US" dirty="0"/>
          </a:p>
          <a:p>
            <a:pPr algn="l">
              <a:spcAft>
                <a:spcPts val="600"/>
              </a:spcAft>
              <a:defRPr sz="2400" b="1">
                <a:solidFill>
                  <a:srgbClr val="006B5E"/>
                </a:solidFill>
                <a:latin typeface="Arial"/>
              </a:defRPr>
            </a:pPr>
            <a:endParaRPr lang="en-US" dirty="0"/>
          </a:p>
          <a:p>
            <a:pPr algn="l">
              <a:spcAft>
                <a:spcPts val="600"/>
              </a:spcAft>
              <a:defRPr sz="2400" b="1">
                <a:solidFill>
                  <a:srgbClr val="006B5E"/>
                </a:solidFill>
                <a:latin typeface="Arial"/>
              </a:defRPr>
            </a:pPr>
            <a:endParaRPr lang="en-US" dirty="0"/>
          </a:p>
          <a:p>
            <a:pPr algn="l">
              <a:spcAft>
                <a:spcPts val="600"/>
              </a:spcAft>
              <a:defRPr sz="2400" b="1">
                <a:solidFill>
                  <a:srgbClr val="006B5E"/>
                </a:solidFill>
                <a:latin typeface="Arial"/>
              </a:defRPr>
            </a:pPr>
            <a:endParaRPr lang="en-US" dirty="0"/>
          </a:p>
          <a:p>
            <a:pPr algn="l">
              <a:spcAft>
                <a:spcPts val="600"/>
              </a:spcAft>
              <a:defRPr sz="2400" b="1">
                <a:solidFill>
                  <a:srgbClr val="006B5E"/>
                </a:solidFill>
                <a:latin typeface="Arial"/>
              </a:defRPr>
            </a:pPr>
            <a:endParaRPr lang="en-US" dirty="0"/>
          </a:p>
          <a:p>
            <a:pPr algn="l">
              <a:spcAft>
                <a:spcPts val="600"/>
              </a:spcAft>
              <a:defRPr sz="2400" b="1">
                <a:solidFill>
                  <a:srgbClr val="006B5E"/>
                </a:solidFill>
                <a:latin typeface="Arial"/>
              </a:defRPr>
            </a:pPr>
            <a:endParaRPr lang="en-US" dirty="0"/>
          </a:p>
        </p:txBody>
      </p:sp>
      <p:pic>
        <p:nvPicPr>
          <p:cNvPr id="12" name="Picture 11" descr="v2_fig_gpu_dynam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824" y="4744777"/>
            <a:ext cx="9554410" cy="348867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74319" y="9156008"/>
            <a:ext cx="11943785" cy="12240951"/>
          </a:xfrm>
          <a:prstGeom prst="roundRect">
            <a:avLst>
              <a:gd name="adj" fmla="val 222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018891" y="8590878"/>
            <a:ext cx="10454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rPr sz="2800" dirty="0"/>
              <a:t>PROPOSED ARCHITECTURE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51335" y="2626453"/>
            <a:ext cx="9489153" cy="5591794"/>
          </a:xfrm>
          <a:prstGeom prst="roundRect">
            <a:avLst>
              <a:gd name="adj" fmla="val 393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316234" y="2029968"/>
            <a:ext cx="10637520" cy="50292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62720" y="2043204"/>
            <a:ext cx="1045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rPr dirty="0"/>
              <a:t>BENEFIT 1: CUMULATIVE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83888" y="2705351"/>
            <a:ext cx="10271760" cy="1236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 dirty="0"/>
              <a:t>The MVDC architecture eliminates redundant conversions</a:t>
            </a:r>
            <a:r>
              <a:rPr lang="en-US" altLang="zh-CN" dirty="0"/>
              <a:t>.</a:t>
            </a:r>
            <a:endParaRPr lang="en-US" dirty="0"/>
          </a:p>
          <a:p>
            <a:pPr>
              <a:spcAft>
                <a:spcPts val="400"/>
              </a:spcAft>
              <a:defRPr sz="2200" b="1">
                <a:solidFill>
                  <a:srgbClr val="006B5E"/>
                </a:solidFill>
                <a:latin typeface="Arial"/>
              </a:defRPr>
            </a:pPr>
            <a:r>
              <a:rPr lang="el-GR" dirty="0">
                <a:solidFill>
                  <a:srgbClr val="C00000"/>
                </a:solidFill>
              </a:rPr>
              <a:t>η_</a:t>
            </a:r>
            <a:r>
              <a:rPr lang="en-US" dirty="0">
                <a:solidFill>
                  <a:srgbClr val="C00000"/>
                </a:solidFill>
              </a:rPr>
              <a:t>total = ∏(</a:t>
            </a:r>
            <a:r>
              <a:rPr lang="el-GR" dirty="0">
                <a:solidFill>
                  <a:srgbClr val="C00000"/>
                </a:solidFill>
              </a:rPr>
              <a:t>η_</a:t>
            </a:r>
            <a:r>
              <a:rPr lang="en-US" dirty="0" err="1">
                <a:solidFill>
                  <a:srgbClr val="C00000"/>
                </a:solidFill>
              </a:rPr>
              <a:t>i</a:t>
            </a:r>
            <a:r>
              <a:rPr lang="en-US" dirty="0">
                <a:solidFill>
                  <a:srgbClr val="C00000"/>
                </a:solidFill>
              </a:rPr>
              <a:t>):  AC (N=5–6) ≈ 81%  vs.  DC (N=3–4) ≈ 94.6%</a:t>
            </a:r>
          </a:p>
          <a:p>
            <a:pPr>
              <a:spcAft>
                <a:spcPts val="400"/>
              </a:spcAft>
              <a:defRPr sz="2200" b="1">
                <a:solidFill>
                  <a:srgbClr val="006B5E"/>
                </a:solidFill>
                <a:latin typeface="Arial"/>
              </a:defRPr>
            </a:pPr>
            <a:r>
              <a:rPr lang="en-US" dirty="0"/>
              <a:t>For a 100 MW AI factory: ~13.5 MW saved ≈ $11.8M/year.</a:t>
            </a:r>
          </a:p>
        </p:txBody>
      </p:sp>
      <p:pic>
        <p:nvPicPr>
          <p:cNvPr id="23" name="Picture 22" descr="v2_fig_effici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4516" y="4021821"/>
            <a:ext cx="7167056" cy="355043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068104" y="7645404"/>
            <a:ext cx="1027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rPr dirty="0"/>
              <a:t>Sources: IEEE PELS 2024; EPRI DC Data Center Report; Rasmussen WP#63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396035" y="8895017"/>
            <a:ext cx="9444454" cy="2626855"/>
          </a:xfrm>
          <a:prstGeom prst="roundRect">
            <a:avLst>
              <a:gd name="adj" fmla="val 64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245285" y="8324817"/>
            <a:ext cx="1045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rPr dirty="0"/>
              <a:t>BENEFIT 2: HARMONICS &amp; POWER QUALITY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7362" y="9081578"/>
            <a:ext cx="9375375" cy="2328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 dirty="0"/>
              <a:t>In AC architectures, every server PSU injects harmonics and requires PFC. Management is distributed across 4–5 points</a:t>
            </a:r>
            <a:r>
              <a:rPr lang="en-US" altLang="zh-CN" dirty="0"/>
              <a:t>.</a:t>
            </a:r>
            <a:endParaRPr dirty="0"/>
          </a:p>
          <a:p>
            <a:pPr algn="l">
              <a:spcAft>
                <a:spcPts val="800"/>
              </a:spcAft>
              <a:defRPr sz="2200" b="1">
                <a:solidFill>
                  <a:srgbClr val="006B5E"/>
                </a:solidFill>
                <a:latin typeface="Arial"/>
              </a:defRPr>
            </a:pPr>
            <a:r>
              <a:rPr dirty="0"/>
              <a:t>With MVDC, harmonic and PF handling become centralized once at the MV AC/DC front-end</a:t>
            </a:r>
            <a:r>
              <a:rPr lang="en-US" dirty="0"/>
              <a:t>, instead of</a:t>
            </a:r>
            <a:endParaRPr dirty="0"/>
          </a:p>
          <a:p>
            <a:pPr algn="l">
              <a:spcAft>
                <a:spcPts val="40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 dirty="0"/>
              <a:t>For utilities: AC-side power quality managed only once at the grid interface </a:t>
            </a:r>
            <a:r>
              <a:rPr lang="en-US" dirty="0"/>
              <a:t>—</a:t>
            </a:r>
            <a:r>
              <a:rPr dirty="0"/>
              <a:t> simplifying IEEE 519 compliance.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460294" y="12227935"/>
            <a:ext cx="9395516" cy="9169024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958776" y="11612626"/>
            <a:ext cx="10454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rPr sz="2800" dirty="0"/>
              <a:t>BENEFIT 3: VOLTAGE MGMT &amp; DC-NATIVE PATH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81351" y="17156000"/>
            <a:ext cx="9272403" cy="3775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 dirty="0"/>
              <a:t>The MVDC backbone provides a cleaner DC-native path for: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 dirty="0"/>
              <a:t>• Rack buffering and battery storage (BESS)</a:t>
            </a:r>
            <a:br>
              <a:rPr dirty="0"/>
            </a:br>
            <a:r>
              <a:rPr dirty="0"/>
              <a:t>• Solar PV integration</a:t>
            </a:r>
            <a:br>
              <a:rPr dirty="0"/>
            </a:br>
            <a:r>
              <a:rPr dirty="0"/>
              <a:t>• Future modular AI power blocks</a:t>
            </a:r>
          </a:p>
          <a:p>
            <a:pPr algn="l">
              <a:spcAft>
                <a:spcPts val="800"/>
              </a:spcAft>
              <a:defRPr sz="2200" b="1">
                <a:solidFill>
                  <a:srgbClr val="006B5E"/>
                </a:solidFill>
                <a:latin typeface="Arial"/>
              </a:defRPr>
            </a:pPr>
            <a:r>
              <a:rPr dirty="0"/>
              <a:t>All connect directly to the DC bus without AC-DC-AC re-conversion.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 dirty="0"/>
              <a:t>DC voltage regulation is inherently simpler: no reactive power, no frequency control, no phase balancing. A single DC voltage setpoint replaces complex multi-variable AC control.</a:t>
            </a:r>
          </a:p>
          <a:p>
            <a:pPr algn="l">
              <a:spcAft>
                <a:spcPts val="200"/>
              </a:spcAft>
              <a:defRPr sz="2000" b="1">
                <a:solidFill>
                  <a:srgbClr val="8C1515"/>
                </a:solidFill>
                <a:latin typeface="Arial"/>
              </a:defRPr>
            </a:pPr>
            <a:r>
              <a:rPr dirty="0"/>
              <a:t>P_DC = 2V·I  vs.  P_AC = √3·V·I·cosφ</a:t>
            </a:r>
            <a:br>
              <a:rPr dirty="0"/>
            </a:br>
            <a:r>
              <a:rPr dirty="0"/>
              <a:t>DC delivers ~28% more power per conductor at MV level.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006560" y="2562332"/>
            <a:ext cx="10546080" cy="11620012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2006560" y="2057400"/>
            <a:ext cx="10637520" cy="50292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2098000" y="2103120"/>
            <a:ext cx="1045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rPr dirty="0"/>
              <a:t>ARCHITECTURE COMPARISON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468671"/>
              </p:ext>
            </p:extLst>
          </p:nvPr>
        </p:nvGraphicFramePr>
        <p:xfrm>
          <a:off x="22170433" y="2916934"/>
          <a:ext cx="10271761" cy="10766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8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8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11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63015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200" dirty="0"/>
                        <a:t>Axis</a:t>
                      </a:r>
                    </a:p>
                  </a:txBody>
                  <a:tcPr anchor="ctr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200" dirty="0"/>
                        <a:t>Traditional</a:t>
                      </a:r>
                    </a:p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200" dirty="0"/>
                        <a:t>AC</a:t>
                      </a:r>
                    </a:p>
                  </a:txBody>
                  <a:tcPr anchor="ctr"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200" dirty="0"/>
                        <a:t>AC-fed SST</a:t>
                      </a:r>
                    </a:p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200" dirty="0"/>
                        <a:t>800 Vdc</a:t>
                      </a:r>
                    </a:p>
                  </a:txBody>
                  <a:tcPr anchor="ctr"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200"/>
                        <a:t>MVDC Hub</a:t>
                      </a:r>
                    </a:p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200"/>
                        <a:t>(Proposed)</a:t>
                      </a:r>
                    </a:p>
                  </a:txBody>
                  <a:tcPr anchor="ctr">
                    <a:solidFill>
                      <a:srgbClr val="006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7598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Facility</a:t>
                      </a:r>
                    </a:p>
                    <a:p>
                      <a:pPr algn="l">
                        <a:defRPr sz="17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Interface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AC-native utility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+ facility protection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AC input still at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pod / cluster front 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/>
                        <a:t>Centralized MV AC/DC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/>
                        <a:t>feeding MVDC bus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4440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Pod</a:t>
                      </a:r>
                    </a:p>
                    <a:p>
                      <a:pPr algn="l">
                        <a:defRPr sz="17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Complexity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Repeated downstream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AC/DC + DC/DC stages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High: PFC + HF link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+ 800 Vdc output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Simpler: HF link only,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AC/DC moves upstream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7598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DC-Native</a:t>
                      </a:r>
                    </a:p>
                    <a:p>
                      <a:pPr algn="l">
                        <a:defRPr sz="17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Integration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Extra interfaces for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storage / solar / DC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Better local DC,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but AC still upstream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Best fit: BESS, solar,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rack DC all native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7598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Harmonic / PF</a:t>
                      </a:r>
                    </a:p>
                    <a:p>
                      <a:pPr algn="l">
                        <a:defRPr sz="17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Ownership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Distributed across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AC facility + servers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/>
                        <a:t>Handled locally at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/>
                        <a:t>each pod interface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Centralized at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common MV front end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7598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Maturity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/>
                        <a:t>Highest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/>
                        <a:t>Prototype to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/>
                        <a:t>emerging products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lang="en-US" altLang="zh-CN" sz="2200" dirty="0"/>
                        <a:t>Proposed</a:t>
                      </a:r>
                      <a:r>
                        <a:rPr lang="zh-CN" altLang="en-US" sz="2200" dirty="0"/>
                        <a:t> </a:t>
                      </a:r>
                      <a:r>
                        <a:rPr lang="en-US" altLang="zh-CN" sz="2200" dirty="0"/>
                        <a:t>in</a:t>
                      </a:r>
                      <a:r>
                        <a:rPr lang="zh-CN" altLang="en-US" sz="2200" dirty="0"/>
                        <a:t> </a:t>
                      </a:r>
                      <a:r>
                        <a:rPr lang="en-US" altLang="zh-CN" sz="2200" dirty="0"/>
                        <a:t>this</a:t>
                      </a:r>
                      <a:r>
                        <a:rPr lang="zh-CN" altLang="en-US" sz="2200" dirty="0"/>
                        <a:t> </a:t>
                      </a:r>
                      <a:r>
                        <a:rPr lang="en-US" altLang="zh-CN" sz="2200" dirty="0"/>
                        <a:t>work</a:t>
                      </a:r>
                      <a:endParaRPr lang="en-US" sz="2200" dirty="0"/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64440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Main</a:t>
                      </a:r>
                    </a:p>
                    <a:p>
                      <a:pPr algn="l">
                        <a:defRPr sz="17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Bottleneck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Repeated conversions,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copper, facility sprawl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 err="1"/>
                        <a:t>SiC</a:t>
                      </a:r>
                      <a:r>
                        <a:rPr sz="2200" dirty="0"/>
                        <a:t> cost, HFT insulation,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capacitor stress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MVDC protection,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sz="2200" dirty="0"/>
                        <a:t>fault handling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27598">
                <a:tc gridSpan="4"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8C1515"/>
                          </a:solidFill>
                          <a:latin typeface="Arial"/>
                        </a:defRPr>
                      </a:pPr>
                      <a:r>
                        <a:rPr sz="2200" dirty="0"/>
                        <a:t>The MVDC-hub proposal is strongest as a system-architecture story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9" name="Rounded Rectangle 38"/>
          <p:cNvSpPr/>
          <p:nvPr/>
        </p:nvSpPr>
        <p:spPr>
          <a:xfrm>
            <a:off x="22098000" y="14842857"/>
            <a:ext cx="10591800" cy="6539908"/>
          </a:xfrm>
          <a:prstGeom prst="roundRect">
            <a:avLst>
              <a:gd name="adj" fmla="val 185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2130129" y="14288160"/>
            <a:ext cx="1045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rPr dirty="0"/>
              <a:t>CONCLUSION &amp; FUTURE 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253699" y="15103418"/>
            <a:ext cx="10239631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06B5E"/>
                </a:solidFill>
                <a:latin typeface="Arial"/>
              </a:defRPr>
            </a:pPr>
            <a:r>
              <a:rPr dirty="0"/>
              <a:t>Conclusion</a:t>
            </a:r>
          </a:p>
          <a:p>
            <a:pPr algn="l">
              <a:spcAft>
                <a:spcPts val="100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 dirty="0"/>
              <a:t>The MVDC </a:t>
            </a:r>
            <a:r>
              <a:rPr dirty="0" err="1"/>
              <a:t>subtransmission</a:t>
            </a:r>
            <a:r>
              <a:rPr dirty="0"/>
              <a:t> backbone offers a compelling path for next-generation AI factories: fewer conversion stages, centralized power quality management, simpler voltage regulation, and native DC integration for storage and renewables.</a:t>
            </a:r>
          </a:p>
          <a:p>
            <a:pPr algn="l">
              <a:spcAft>
                <a:spcPts val="600"/>
              </a:spcAft>
              <a:defRPr sz="2600" b="1">
                <a:solidFill>
                  <a:srgbClr val="8C1515"/>
                </a:solidFill>
                <a:latin typeface="Arial"/>
              </a:defRPr>
            </a:pPr>
            <a:r>
              <a:rPr dirty="0"/>
              <a:t>Future Work:</a:t>
            </a:r>
          </a:p>
          <a:p>
            <a:pPr algn="l">
              <a:spcAft>
                <a:spcPts val="50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 dirty="0"/>
              <a:t>• MVDC protection schemes, fault isolation, and safety standards development</a:t>
            </a:r>
          </a:p>
          <a:p>
            <a:pPr algn="l">
              <a:spcAft>
                <a:spcPts val="50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 dirty="0"/>
              <a:t>• Techno-economic analysis at 100–500 MW scale with hardware-in-the-loop validation</a:t>
            </a:r>
          </a:p>
          <a:p>
            <a:pPr algn="l">
              <a:spcAft>
                <a:spcPts val="100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 dirty="0"/>
              <a:t>• Optimal buffering placement (GPU, rack, pod, or MVDC hub) and BOM analysis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8C1515"/>
                </a:solidFill>
                <a:latin typeface="Arial"/>
              </a:defRPr>
            </a:pPr>
            <a:r>
              <a:rPr sz="2600" dirty="0"/>
              <a:t>References</a:t>
            </a:r>
          </a:p>
          <a:p>
            <a:pPr algn="l">
              <a:spcAft>
                <a:spcPts val="200"/>
              </a:spcAft>
              <a:defRPr sz="1600" b="0">
                <a:solidFill>
                  <a:srgbClr val="666666"/>
                </a:solidFill>
                <a:latin typeface="Arial"/>
              </a:defRPr>
            </a:pPr>
            <a:r>
              <a:rPr sz="2200" dirty="0"/>
              <a:t>[1] IEA, "Data </a:t>
            </a:r>
            <a:r>
              <a:rPr sz="2200" dirty="0" err="1"/>
              <a:t>Centres</a:t>
            </a:r>
            <a:r>
              <a:rPr sz="2200" dirty="0"/>
              <a:t> and AI," 2024   </a:t>
            </a:r>
            <a:endParaRPr lang="en-US" sz="2200" dirty="0"/>
          </a:p>
          <a:p>
            <a:pPr algn="l">
              <a:spcAft>
                <a:spcPts val="200"/>
              </a:spcAft>
              <a:defRPr sz="1600" b="0">
                <a:solidFill>
                  <a:srgbClr val="666666"/>
                </a:solidFill>
                <a:latin typeface="Arial"/>
              </a:defRPr>
            </a:pPr>
            <a:r>
              <a:rPr sz="2200" dirty="0"/>
              <a:t>[2] IEEE PELS, DC Distribution, 2024  </a:t>
            </a:r>
            <a:r>
              <a:rPr lang="en-US" sz="2200" dirty="0"/>
              <a:t> </a:t>
            </a:r>
            <a:r>
              <a:rPr sz="2200" dirty="0"/>
              <a:t>[3] EPRI, DC Power Report, 2023</a:t>
            </a:r>
            <a:br>
              <a:rPr sz="2200" dirty="0"/>
            </a:br>
            <a:r>
              <a:rPr sz="2200" dirty="0"/>
              <a:t>[4] NVIDIA, GB200 Power Architecture, 2024   [5] Rasmussen, APC WP#63   </a:t>
            </a:r>
            <a:endParaRPr lang="en-US" sz="2200" dirty="0"/>
          </a:p>
          <a:p>
            <a:pPr algn="l">
              <a:spcAft>
                <a:spcPts val="200"/>
              </a:spcAft>
              <a:defRPr sz="1600" b="0">
                <a:solidFill>
                  <a:srgbClr val="666666"/>
                </a:solidFill>
                <a:latin typeface="Arial"/>
              </a:defRPr>
            </a:pPr>
            <a:r>
              <a:rPr sz="2200" dirty="0"/>
              <a:t>[6] Pratt et al., INTELEC 2007</a:t>
            </a:r>
            <a:r>
              <a:rPr lang="zh-CN" altLang="en-US" sz="2200" dirty="0"/>
              <a:t> </a:t>
            </a:r>
            <a:r>
              <a:rPr sz="2200" dirty="0"/>
              <a:t>[7] </a:t>
            </a:r>
            <a:r>
              <a:rPr sz="2200" dirty="0" err="1"/>
              <a:t>AlLee</a:t>
            </a:r>
            <a:r>
              <a:rPr sz="2200" dirty="0"/>
              <a:t> &amp; Tschudi, IEEE Power &amp; Energy, 2012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21488400"/>
            <a:ext cx="32918400" cy="457200"/>
          </a:xfrm>
          <a:prstGeom prst="rect">
            <a:avLst/>
          </a:prstGeom>
          <a:solidFill>
            <a:srgbClr val="6B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0116800" y="21561552"/>
            <a:ext cx="1234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
                  <a:srgbClr val="CCCCCC"/>
                </a:solidFill>
                <a:latin typeface="Arial"/>
              </a:defRPr>
            </a:pPr>
            <a:r>
              <a:t>CeraWeek 2026    DC Subtransmission Backbone for AI Factories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0794D58C-9488-BD74-9B89-9912E497E4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070" y="14692101"/>
            <a:ext cx="11652326" cy="5960950"/>
          </a:xfrm>
          <a:prstGeom prst="rect">
            <a:avLst/>
          </a:prstGeom>
        </p:spPr>
      </p:pic>
      <p:pic>
        <p:nvPicPr>
          <p:cNvPr id="29" name="Picture 28" descr="v3_fig_power_capac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49876" y="12433960"/>
            <a:ext cx="8843540" cy="465694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B66090B-9158-15F8-22F5-1A4BD5716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465" y="-109924"/>
            <a:ext cx="1917234" cy="1917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mbinations - Identity Guide">
            <a:extLst>
              <a:ext uri="{FF2B5EF4-FFF2-40B4-BE49-F238E27FC236}">
                <a16:creationId xmlns:a16="http://schemas.microsoft.com/office/drawing/2014/main" id="{7D65F530-353E-B7EA-FACF-05F71B48C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97725" y="430515"/>
            <a:ext cx="2705869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ERAWeek 2026 Houston: world's leading energy conference">
            <a:extLst>
              <a:ext uri="{FF2B5EF4-FFF2-40B4-BE49-F238E27FC236}">
                <a16:creationId xmlns:a16="http://schemas.microsoft.com/office/drawing/2014/main" id="{560573E4-3E67-E21B-0569-3F5239990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4014" y="434944"/>
            <a:ext cx="247371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554FAB71-5C0E-5A35-3ED8-D60BF5EC6652}"/>
              </a:ext>
            </a:extLst>
          </p:cNvPr>
          <p:cNvSpPr txBox="1"/>
          <p:nvPr/>
        </p:nvSpPr>
        <p:spPr>
          <a:xfrm>
            <a:off x="546017" y="9338350"/>
            <a:ext cx="11367635" cy="5291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006B5E"/>
                </a:solidFill>
                <a:latin typeface="Arial"/>
              </a:defRPr>
            </a:pPr>
            <a:r>
              <a:rPr dirty="0"/>
              <a:t>Three Scenarios:</a:t>
            </a:r>
          </a:p>
          <a:p>
            <a:pPr algn="l">
              <a:spcAft>
                <a:spcPts val="300"/>
              </a:spcAft>
              <a:defRPr sz="2200" b="1">
                <a:solidFill>
                  <a:srgbClr val="6B6B6B"/>
                </a:solidFill>
                <a:latin typeface="Arial"/>
              </a:defRPr>
            </a:pPr>
            <a:r>
              <a:rPr dirty="0"/>
              <a:t>1. Traditional AC-centric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333333"/>
                </a:solidFill>
                <a:latin typeface="Arial"/>
              </a:defRPr>
            </a:pPr>
            <a:r>
              <a:rPr dirty="0"/>
              <a:t>Utility MV AC → MV/LV Transformer → UPS (AC→DC→AC) → PDU → Rack PSU (AC→DC) → VRM (DC→DC) → GPU. </a:t>
            </a:r>
            <a:r>
              <a:rPr lang="en-US" altLang="zh-CN" dirty="0"/>
              <a:t>S</a:t>
            </a:r>
            <a:r>
              <a:rPr dirty="0"/>
              <a:t>ix conversion stages. Highest maturity but lowest efficiency</a:t>
            </a:r>
            <a:r>
              <a:rPr lang="en-US" altLang="zh-CN" dirty="0"/>
              <a:t>.</a:t>
            </a:r>
            <a:endParaRPr dirty="0"/>
          </a:p>
          <a:p>
            <a:pPr algn="l">
              <a:spcAft>
                <a:spcPts val="300"/>
              </a:spcAft>
              <a:defRPr sz="2200" b="1">
                <a:solidFill>
                  <a:srgbClr val="1565C0"/>
                </a:solidFill>
                <a:latin typeface="Arial"/>
              </a:defRPr>
            </a:pPr>
            <a:r>
              <a:rPr dirty="0">
                <a:solidFill>
                  <a:srgbClr val="8C1514"/>
                </a:solidFill>
              </a:rPr>
              <a:t>2. AC-fed SST / 800 Vdc Pod (NVIDIA et al.)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333333"/>
                </a:solidFill>
                <a:latin typeface="Arial"/>
              </a:defRPr>
            </a:pPr>
            <a:r>
              <a:rPr dirty="0"/>
              <a:t>Utility MV AC → Solid-State Transformer (AC-DC) → HF Isolated Link → 800 Vdc Bus. </a:t>
            </a:r>
            <a:endParaRPr lang="en-US" dirty="0"/>
          </a:p>
          <a:p>
            <a:pPr algn="l">
              <a:spcAft>
                <a:spcPts val="800"/>
              </a:spcAft>
              <a:defRPr sz="2000" b="0">
                <a:solidFill>
                  <a:srgbClr val="333333"/>
                </a:solidFill>
                <a:latin typeface="Arial"/>
              </a:defRPr>
            </a:pPr>
            <a:r>
              <a:rPr dirty="0"/>
              <a:t>Four conversion stages. Reduces downstream complexity, but AC still enters at the pod front-end  each pod must independently handle harmonics and power factor correction.</a:t>
            </a:r>
          </a:p>
          <a:p>
            <a:pPr algn="l">
              <a:spcAft>
                <a:spcPts val="300"/>
              </a:spcAft>
              <a:defRPr sz="2200" b="1">
                <a:solidFill>
                  <a:srgbClr val="2E7D32"/>
                </a:solidFill>
                <a:latin typeface="Arial"/>
              </a:defRPr>
            </a:pPr>
            <a:r>
              <a:rPr dirty="0">
                <a:solidFill>
                  <a:srgbClr val="016B5E"/>
                </a:solidFill>
              </a:rPr>
              <a:t>3. Proposed: MVDC Hub + Isolated DC Pod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333333"/>
                </a:solidFill>
                <a:latin typeface="Arial"/>
              </a:defRPr>
            </a:pPr>
            <a:r>
              <a:rPr dirty="0"/>
              <a:t>Utility MV AC → Centralized MV AC/DC Front-End (PFC + Harmonics) → MVDC Backbone (DC </a:t>
            </a:r>
            <a:r>
              <a:rPr dirty="0" err="1"/>
              <a:t>Subtransmission</a:t>
            </a:r>
            <a:r>
              <a:rPr dirty="0"/>
              <a:t>) → HF Isolated DC Pod → 800 Vdc Bus </a:t>
            </a:r>
            <a:endParaRPr lang="en-US" dirty="0"/>
          </a:p>
          <a:p>
            <a:pPr algn="l">
              <a:spcAft>
                <a:spcPts val="800"/>
              </a:spcAft>
              <a:defRPr sz="2000" b="0">
                <a:solidFill>
                  <a:srgbClr val="333333"/>
                </a:solidFill>
                <a:latin typeface="Arial"/>
              </a:defRPr>
            </a:pPr>
            <a:r>
              <a:rPr dirty="0"/>
              <a:t>Three to four conversion stages. Harmonics and PF are handled once at the centralized front-end. The DC backbone natively supports BESS, solar PV, and rack-level buffering.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006B5E"/>
                </a:solidFill>
                <a:latin typeface="Arial"/>
              </a:defRPr>
            </a:pPr>
            <a:r>
              <a:rPr dirty="0"/>
              <a:t>Target: Utility AC → MV AC/DC → MVDC Hub → Isolated DC Pod → GPU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870</Words>
  <Application>Microsoft Macintosh PowerPoint</Application>
  <PresentationFormat>Custom</PresentationFormat>
  <Paragraphs>105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Jane Yang</cp:lastModifiedBy>
  <cp:revision>4</cp:revision>
  <dcterms:created xsi:type="dcterms:W3CDTF">2013-01-27T09:14:16Z</dcterms:created>
  <dcterms:modified xsi:type="dcterms:W3CDTF">2026-03-25T07:25:29Z</dcterms:modified>
  <cp:category/>
</cp:coreProperties>
</file>