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1920240"/>
          </a:xfrm>
          <a:prstGeom prst="rect">
            <a:avLst/>
          </a:prstGeom>
          <a:solidFill>
            <a:srgbClr val="6B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20"/>
            <a:ext cx="32918400" cy="45720"/>
          </a:xfrm>
          <a:prstGeom prst="rect">
            <a:avLst/>
          </a:prstGeom>
          <a:solidFill>
            <a:srgbClr val="D2C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"/>
            <a:ext cx="3017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Direct Current (DC) Subtransmission Backbone for AI Factories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04672"/>
            <a:ext cx="3017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DDDDDD"/>
                </a:solidFill>
                <a:latin typeface="Arial"/>
              </a:defRPr>
            </a:pPr>
            <a:r>
              <a:t>From Utility AC to 800 Vdc GPU Rails: Architecture, Efficiency, and Power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70432"/>
            <a:ext cx="3017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Jane Yang (yjane@stanford.edu)    Liang Min (liangmin@stanford.edu)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81328"/>
            <a:ext cx="3017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Arial"/>
              </a:defRPr>
            </a:pPr>
            <a:r>
              <a:t>Stanford University    CeraWeek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57400"/>
            <a:ext cx="10637520" cy="713232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0637520" cy="502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ABSTRACT &amp;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0271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8C1515"/>
                </a:solidFill>
                <a:latin typeface="Arial"/>
              </a:defRPr>
            </a:pPr>
            <a:r>
              <a:t>Why Revisit the Power Path Now?</a:t>
            </a:r>
          </a:p>
          <a:p>
            <a:pPr algn="l">
              <a:spcAft>
                <a:spcPts val="10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AI-training loads are changing the problem from a purely steady-state efficiency problem into an architecture + power-dynamics problem. The GPU is the dominant power consumer (~65%), and synchronized GPU activity creates periodic power swings visible at the datacenter level.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r>
              <a:t>Three Industry Scenarios:</a:t>
            </a:r>
          </a:p>
          <a:p>
            <a:pPr algn="l">
              <a:spcAft>
                <a:spcPts val="50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1. Traditional AC: 5–6 conversion stages (Xfmr → UPS → PDU → PSU → VRM). Mature but inefficient.</a:t>
            </a:r>
          </a:p>
          <a:p>
            <a:pPr algn="l">
              <a:spcAft>
                <a:spcPts val="50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2. Scenario 2: 69 kV AC → 800 Vdc perimeter conversion. Fewer stages and a cleaner 800 Vdc downstream path, but the campus still depends on an AC perimeter conversion boundary.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3. Scenario 3: proposed MVDC backbone. A single MV AC/DC front-end feeds the DC backbone, so the downstream plant stays DC-native and buffering, storage, and PV can connect without repeated AC re-entry.</a:t>
            </a:r>
          </a:p>
        </p:txBody>
      </p:sp>
      <p:pic>
        <p:nvPicPr>
          <p:cNvPr id="12" name="Picture 11" descr="fig1_gpu_power_trace_and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269480"/>
            <a:ext cx="10363200" cy="37784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8641080"/>
            <a:ext cx="1027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Scale: &gt;100 MW deployments  |  Dynamics: 0.1–20 Hz load swings  |  Spectrum: FFT peaks at 0.2–3 Hz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9372600"/>
            <a:ext cx="10637520" cy="1202436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9372600"/>
            <a:ext cx="10637520" cy="502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9418320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PROPOSED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966960"/>
            <a:ext cx="10271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006B5E"/>
                </a:solidFill>
                <a:latin typeface="Arial"/>
              </a:defRPr>
            </a:pPr>
            <a:r>
              <a:t>Three Scenarios:</a:t>
            </a:r>
          </a:p>
          <a:p>
            <a:pPr algn="l">
              <a:spcAft>
                <a:spcPts val="300"/>
              </a:spcAft>
              <a:defRPr sz="2200" b="1">
                <a:solidFill>
                  <a:srgbClr val="6B6B6B"/>
                </a:solidFill>
                <a:latin typeface="Arial"/>
              </a:defRPr>
            </a:pPr>
            <a:r>
              <a:t>1. Traditional AC-centric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Utility MV AC → MV/LV Transformer → UPS (AC→DC→AC) → PDU → Rack PSU (AC→DC) → VRM (DC→DC) → GPU. Five to six conversion stages. Highest maturity but lowest efficiency due to repeated AC-DC-AC round-trips.</a:t>
            </a:r>
          </a:p>
          <a:p>
            <a:pPr algn="l">
              <a:spcAft>
                <a:spcPts val="300"/>
              </a:spcAft>
              <a:defRPr sz="2200" b="1">
                <a:solidFill>
                  <a:srgbClr val="1565C0"/>
                </a:solidFill>
                <a:latin typeface="Arial"/>
              </a:defRPr>
            </a:pPr>
            <a:r>
              <a:t>2. AC-fed SST / 800 Vdc Pod (NVIDIA et al.)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Utility 69 kV AC → perimeter AC/DC conversion → 800 Vdc bus → rack/node DC-DC → board DC/DC → GPU. 3 major conversion stages in the current model. This reduces downstream complexity, but the campus still depends on an AC perimeter conversion boundary rather than a DC backbone.</a:t>
            </a:r>
          </a:p>
          <a:p>
            <a:pPr algn="l">
              <a:spcAft>
                <a:spcPts val="300"/>
              </a:spcAft>
              <a:defRPr sz="2200" b="1">
                <a:solidFill>
                  <a:srgbClr val="2E7D32"/>
                </a:solidFill>
                <a:latin typeface="Arial"/>
              </a:defRPr>
            </a:pPr>
            <a:r>
              <a:t>3. Proposed: MVDC Hub + Isolated DC Pod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Utility MV AC → Centralized MV AC/DC Front-End (PFC + Harmonics) → MVDC Backbone (DC Subtransmission) → HF Isolated DC Pod → 800 Vdc Bus → VRM → GPU. 3 major conversion stages in the current model. Harmonics and PF are handled once at the centralized front-end. The DC backbone natively supports BESS, solar PV, and rack-level buffering.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006B5E"/>
                </a:solidFill>
                <a:latin typeface="Arial"/>
              </a:defRPr>
            </a:pPr>
            <a:r>
              <a:t>Target: Utility AC → MV AC/DC → MVDC Hub → Isolated DC Pod → GPU</a:t>
            </a:r>
          </a:p>
          <a:p>
            <a:pPr algn="l">
              <a:spcAft>
                <a:spcPts val="200"/>
              </a:spcAft>
              <a:defRPr sz="2000" b="1">
                <a:solidFill>
                  <a:srgbClr val="8C1515"/>
                </a:solidFill>
                <a:latin typeface="Arial"/>
              </a:defRPr>
            </a:pPr>
            <a:r>
              <a:t>η_total = ∏(η_i):  Scenario 1 = 87.55%  |  Scenario 2 = 91.96%  |  Scenario 3 = 95.09%</a:t>
            </a:r>
          </a:p>
        </p:txBody>
      </p:sp>
      <p:pic>
        <p:nvPicPr>
          <p:cNvPr id="18" name="Picture 17" descr="fig3_three_scenario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224760"/>
            <a:ext cx="10454640" cy="489879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1140440" y="2057400"/>
            <a:ext cx="10637520" cy="6400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40440" y="2057400"/>
            <a:ext cx="10637520" cy="502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31880" y="2103120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BENEFIT 1: CUMULATIVE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320" y="2651760"/>
            <a:ext cx="1027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The MVDC architecture eliminates redundant conversions, achieving 95.09% full-load efficiency versus 87.55% for Scenario 1 and 91.96% for Scenario 2.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006B5E"/>
                </a:solidFill>
                <a:latin typeface="Arial"/>
              </a:defRPr>
            </a:pPr>
            <a:r>
              <a:t>At 100 MW IT, Scenario 3 avoids 79.27 GWh/year of loss and about $7.36M/year versus Scenario 1.</a:t>
            </a:r>
          </a:p>
        </p:txBody>
      </p:sp>
      <p:pic>
        <p:nvPicPr>
          <p:cNvPr id="23" name="Picture 22" descr="fig2_cumulative_effici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1880" y="4617720"/>
            <a:ext cx="10454640" cy="58742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323320" y="7818120"/>
            <a:ext cx="1027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Sources: IEEE PELS 2024; EPRI DC Data Center Report; Rasmussen WP#63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40440" y="8641080"/>
            <a:ext cx="10637520" cy="50292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40440" y="8641080"/>
            <a:ext cx="10637520" cy="502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31880" y="8686800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BENEFIT 2: HARMONICS &amp; POWER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23320" y="9235440"/>
            <a:ext cx="10271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In AC architectures, every server PSU injects harmonics and requires power factor correction (PFC). With thousands of servers, Scenario 1 distributes harmonic ownership across 4 AC-side interfaces.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006B5E"/>
                </a:solidFill>
                <a:latin typeface="Arial"/>
              </a:defRPr>
            </a:pPr>
            <a:r>
              <a:t>Scenario 2 and Scenario 3 both reduce the AC-side count to one boundary, but only Scenario 3 moves that boundary upstream to the backbone and keeps the downstream plant DC-native.</a:t>
            </a:r>
          </a:p>
          <a:p>
            <a:pPr algn="l">
              <a:spcAft>
                <a:spcPts val="10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For utilities: AC-side power quality is managed only once at the grid interface — dramatically simplifying compliance with IEEE 519 harmonic limits and reducing filter equipment cost.</a:t>
            </a:r>
          </a:p>
          <a:p>
            <a:pPr algn="l">
              <a:spcAft>
                <a:spcPts val="200"/>
              </a:spcAft>
              <a:defRPr sz="2200" b="1">
                <a:solidFill>
                  <a:srgbClr val="8C1515"/>
                </a:solidFill>
                <a:latin typeface="Arial"/>
              </a:defRPr>
            </a:pPr>
            <a:r>
              <a:t>Scenario 1: 4 AC harmonic-injection points</a:t>
            </a:r>
            <a:br/>
            <a:r>
              <a:t>Scenario 2: 1 AC boundary point</a:t>
            </a:r>
            <a:br/>
            <a:r>
              <a:t>Scenario 3: 1 centralized AC boundary point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40440" y="13853160"/>
            <a:ext cx="10637520" cy="75438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40440" y="13853160"/>
            <a:ext cx="10637520" cy="502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31880" y="13898880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BENEFIT 3: VOLTAGE MGMT &amp; DC-NATIVE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23320" y="14447520"/>
            <a:ext cx="1027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The MVDC backbone provides a cleaner DC-native path for rack buffering, battery storage (BESS), solar PV, and future modular AI power blocks — all connecting directly to the DC bus without AC-DC-AC re-conversion.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DC voltage regulation is inherently simpler: no reactive power, no frequency control, no phase balancing.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006B5E"/>
                </a:solidFill>
                <a:latin typeface="Arial"/>
              </a:defRPr>
            </a:pPr>
            <a:r>
              <a:t>At the 34.5/35 kV benchmark in the companion figure, bipolar DC carries about 23% more power on the same conductor set.</a:t>
            </a:r>
          </a:p>
        </p:txBody>
      </p:sp>
      <p:pic>
        <p:nvPicPr>
          <p:cNvPr id="33" name="Picture 32" descr="fig4_power_capacity_ac_vs_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1880" y="17145000"/>
            <a:ext cx="10454640" cy="521686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2006560" y="2057400"/>
            <a:ext cx="10637520" cy="123444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006560" y="2057400"/>
            <a:ext cx="10637520" cy="502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098000" y="2103120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ARCHITECTURE COMPARISON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89440" y="2606040"/>
            <a:ext cx="1027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Arial"/>
              </a:defRPr>
            </a:pPr>
            <a:r>
              <a:t>The proposed path exchanges downstream simplicity for a tougher MVDC infrastructure problem.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2143720.0" y="3154680"/>
          <a:ext cx="9326880" cy="96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2377440"/>
                <a:gridCol w="2743200"/>
              </a:tblGrid>
              <a:tr h="120015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Axis</a:t>
                      </a:r>
                    </a:p>
                  </a:txBody>
                  <a:tcPr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 1</a:t>
                      </a:r>
                    </a:p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Traditional AC</a:t>
                      </a:r>
                    </a:p>
                  </a:txBody>
                  <a:tcPr anchor="ctr"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 2</a:t>
                      </a:r>
                    </a:p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69 kV AC -&gt;</a:t>
                      </a:r>
                    </a:p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800 Vdc</a:t>
                      </a:r>
                    </a:p>
                  </a:txBody>
                  <a:tcPr anchor="ctr"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 3</a:t>
                      </a:r>
                    </a:p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MVDC Backbone</a:t>
                      </a:r>
                    </a:p>
                  </a:txBody>
                  <a:tcPr anchor="ctr">
                    <a:solidFill>
                      <a:srgbClr val="006B5E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Facility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Interface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AC-native utility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 facility protection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69 kV AC perimeter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converter to 800 Vdc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Centralized MV AC/DC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feeding MVDC bus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Pod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Repeated downstream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AC/DC + DC/DC stages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Simpler 800 Vdc path,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but perimeter AC/DC remains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Simpler DC pod;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AC/DC moves upstream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DC-Native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Integration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Extra interfaces for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storage / solar / 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Cleaner downstream DC,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but no MVDC backbone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Best fit: BESS, solar,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rack DC all native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Harmonic / PF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Ownership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Distributed across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 facility + servers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One AC boundary at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the perimeter converter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Centralized at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common MV front end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Highest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Prototype to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emerging products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Lowest today;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protection is key hurdle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Main</a:t>
                      </a:r>
                    </a:p>
                    <a:p>
                      <a:pPr algn="l">
                        <a:defRPr sz="17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Bottleneck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Repeated conversions,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copper, facility sprawl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Perimeter conversion,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front-end hardware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MVDC protection,</a:t>
                      </a:r>
                    </a:p>
                    <a:p>
                      <a:pPr algn="ctr">
                        <a:defRPr sz="17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fault handling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1200150">
                <a:tc gridSpan="4"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8C1515"/>
                          </a:solidFill>
                          <a:latin typeface="Arial"/>
                        </a:defRPr>
                      </a:pPr>
                      <a:r>
                        <a:t>The MVDC-hub proposal is strongest as a system-architecture story — not a claim that one converter solves the whole facility.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22006560" y="14584680"/>
            <a:ext cx="10637520" cy="6812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006560" y="14584680"/>
            <a:ext cx="10637520" cy="502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098000" y="14630400"/>
            <a:ext cx="1045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89440" y="15179040"/>
            <a:ext cx="10271760" cy="608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06B5E"/>
                </a:solidFill>
                <a:latin typeface="Arial"/>
              </a:defRPr>
            </a:pPr>
            <a:r>
              <a:t>Conclusion</a:t>
            </a:r>
          </a:p>
          <a:p>
            <a:pPr algn="l">
              <a:spcAft>
                <a:spcPts val="10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The MVDC subtransmission backbone offers a compelling path for next-generation AI factories: 95.09% modeled full-load efficiency, 79.27 GWh/year lower electrical loss than Scenario 1, centralized power quality management, simpler voltage regulation, and native DC integration for storage and renewables.</a:t>
            </a:r>
          </a:p>
          <a:p>
            <a:pPr algn="l">
              <a:spcAft>
                <a:spcPts val="600"/>
              </a:spcAft>
              <a:defRPr sz="2600" b="1">
                <a:solidFill>
                  <a:srgbClr val="8C1515"/>
                </a:solidFill>
                <a:latin typeface="Arial"/>
              </a:defRPr>
            </a:pPr>
            <a:r>
              <a:t>Future Work:</a:t>
            </a:r>
          </a:p>
          <a:p>
            <a:pPr algn="l">
              <a:spcAft>
                <a:spcPts val="5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• MVDC protection schemes, fault isolation, and safety standards development</a:t>
            </a:r>
          </a:p>
          <a:p>
            <a:pPr algn="l">
              <a:spcAft>
                <a:spcPts val="5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• Techno-economic analysis at 100–500 MW scale with hardware-in-the-loop validation</a:t>
            </a:r>
          </a:p>
          <a:p>
            <a:pPr algn="l">
              <a:spcAft>
                <a:spcPts val="100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• Optimal buffering placement (GPU, rack, pod, or MVDC hub) and BOM analysis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8C1515"/>
                </a:solidFill>
                <a:latin typeface="Arial"/>
              </a:defRPr>
            </a:pPr>
            <a:r>
              <a:t>References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t>[1] IEA, "Energy and AI," 2025   [2] NVIDIA, "800 V HVDC Architecture," 2025   [3] PNNL, "EMT Modeling of Large Data Centers," 2026</a:t>
            </a:r>
            <a:br/>
            <a:r>
              <a:t>[4] IEEE Std 519-2022   [5] Segan et al., Sustainable Energy, Grids and Networks, 2025   [6] OpenDSS / DSS C-API local validation, 2026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21488400"/>
            <a:ext cx="32918400" cy="457200"/>
          </a:xfrm>
          <a:prstGeom prst="rect">
            <a:avLst/>
          </a:prstGeom>
          <a:solidFill>
            <a:srgbClr val="6B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1561552"/>
            <a:ext cx="1463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Jane Yang (yjane@stanford.edu)    Liang Min (liangmin@stanford.edu)    Stanford University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0" y="21561552"/>
            <a:ext cx="1234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CCCCCC"/>
                </a:solidFill>
                <a:latin typeface="Arial"/>
              </a:defRPr>
            </a:pPr>
            <a:r>
              <a:t>CeraWeek 2026    DC Subtransmission Backbone for AI Factories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